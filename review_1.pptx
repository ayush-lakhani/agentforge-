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Source Sans 3" charset="1" panose="020B0303030403020204"/>
      <p:regular r:id="rId21"/>
    </p:embeddedFont>
    <p:embeddedFont>
      <p:font typeface="Montserrat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05502" y="821156"/>
            <a:ext cx="12076997" cy="7983884"/>
            <a:chOff x="0" y="0"/>
            <a:chExt cx="16102663" cy="1064517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6102674" cy="10645140"/>
            </a:xfrm>
            <a:custGeom>
              <a:avLst/>
              <a:gdLst/>
              <a:ahLst/>
              <a:cxnLst/>
              <a:rect r="r" b="b" t="t" l="l"/>
              <a:pathLst>
                <a:path h="10645140" w="16102674">
                  <a:moveTo>
                    <a:pt x="0" y="0"/>
                  </a:moveTo>
                  <a:lnTo>
                    <a:pt x="16102674" y="0"/>
                  </a:lnTo>
                  <a:lnTo>
                    <a:pt x="16102674" y="10645140"/>
                  </a:lnTo>
                  <a:lnTo>
                    <a:pt x="0" y="1064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46" t="0" r="-646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778688"/>
            <a:ext cx="5609777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099" y="3374930"/>
            <a:ext cx="16179546" cy="386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9313" indent="-179657" lvl="1">
              <a:lnSpc>
                <a:spcPts val="3636"/>
              </a:lnSpc>
              <a:buFont typeface="Arial"/>
              <a:buChar char="•"/>
            </a:pPr>
            <a:r>
              <a:rPr lang="en-US" sz="238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Digital platforms have transformed content into a strategic asset</a:t>
            </a:r>
          </a:p>
          <a:p>
            <a:pPr algn="l" marL="359313" indent="-179657" lvl="1">
              <a:lnSpc>
                <a:spcPts val="3636"/>
              </a:lnSpc>
              <a:buFont typeface="Arial"/>
              <a:buChar char="•"/>
            </a:pPr>
            <a:r>
              <a:rPr lang="en-US" sz="238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Organizations require structured and aligned content planning</a:t>
            </a:r>
          </a:p>
          <a:p>
            <a:pPr algn="l" marL="359313" indent="-179657" lvl="1">
              <a:lnSpc>
                <a:spcPts val="3636"/>
              </a:lnSpc>
              <a:buFont typeface="Arial"/>
              <a:buChar char="•"/>
            </a:pPr>
            <a:r>
              <a:rPr lang="en-US" sz="238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Traditional planning methods are manual and inefficient</a:t>
            </a:r>
          </a:p>
          <a:p>
            <a:pPr algn="l" marL="359313" indent="-179657" lvl="1">
              <a:lnSpc>
                <a:spcPts val="3636"/>
              </a:lnSpc>
              <a:buFont typeface="Arial"/>
              <a:buChar char="•"/>
            </a:pPr>
            <a:r>
              <a:rPr lang="en-US" sz="238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Existing AI tools focus mainly on content generation</a:t>
            </a:r>
          </a:p>
          <a:p>
            <a:pPr algn="l" marL="359313" indent="-179657" lvl="1">
              <a:lnSpc>
                <a:spcPts val="3636"/>
              </a:lnSpc>
              <a:buFont typeface="Arial"/>
              <a:buChar char="•"/>
            </a:pPr>
            <a:r>
              <a:rPr lang="en-US" sz="238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Planvix emphasizes strategic reasoning over content creation</a:t>
            </a:r>
          </a:p>
          <a:p>
            <a:pPr algn="l" marL="359313" indent="-179657" lvl="1">
              <a:lnSpc>
                <a:spcPts val="3636"/>
              </a:lnSpc>
              <a:buFont typeface="Arial"/>
              <a:buChar char="•"/>
            </a:pPr>
            <a:r>
              <a:rPr lang="en-US" sz="238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PLANVIX is a dedicated SaaS platform that automates the entire role of a Chief Marketing Officer with five specialized AI agents working in coordinated sequence, delivering professional-grade content strategy in seconds instead of days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961130"/>
            <a:ext cx="5926036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Problem Statement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195388" y="2163070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82403" y="2134495"/>
            <a:ext cx="13898766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Existing AI tools focus mainly on content generation, not strategic planning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195388" y="3715198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82403" y="3686623"/>
            <a:ext cx="12483408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Outputs are often generic and lack audience-specific customization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195388" y="5267325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82403" y="5238750"/>
            <a:ext cx="12475369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Monolithic architectures lack collaborative reasoning and validation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5388" y="6819452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82403" y="6790877"/>
            <a:ext cx="976997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Limited personalization based on user expertise level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95388" y="8371580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82403" y="8343005"/>
            <a:ext cx="15125852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unified framework integrating multi-agent intelligence and knowledge grounding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884034"/>
            <a:ext cx="7829255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System (Planvix)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195388" y="2240309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82403" y="2211734"/>
            <a:ext cx="678835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Multi-agent decision-support system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195388" y="3792436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82403" y="3763861"/>
            <a:ext cx="6242294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Experience-aware personalization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195388" y="5344563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82403" y="5315988"/>
            <a:ext cx="722992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Retrieval-Augmented Generation (RAG)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5388" y="6896691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82403" y="6868116"/>
            <a:ext cx="713914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Structured validation and optimization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95388" y="8448827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82403" y="8420252"/>
            <a:ext cx="8145066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on strategic planning (not publishing)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2477091"/>
            <a:ext cx="6111030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Scope of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3738115"/>
            <a:ext cx="106561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9744" y="4310062"/>
            <a:ext cx="5170437" cy="38100"/>
            <a:chOff x="0" y="0"/>
            <a:chExt cx="6893916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93941" cy="50800"/>
            </a:xfrm>
            <a:custGeom>
              <a:avLst/>
              <a:gdLst/>
              <a:ahLst/>
              <a:cxnLst/>
              <a:rect r="r" b="b" t="t" l="l"/>
              <a:pathLst>
                <a:path h="50800" w="6893941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4521403"/>
            <a:ext cx="5170437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Intelligent content strategy planning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58705" y="3738115"/>
            <a:ext cx="169902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58705" y="4310062"/>
            <a:ext cx="5170437" cy="38100"/>
            <a:chOff x="0" y="0"/>
            <a:chExt cx="6893916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93941" cy="50800"/>
            </a:xfrm>
            <a:custGeom>
              <a:avLst/>
              <a:gdLst/>
              <a:ahLst/>
              <a:cxnLst/>
              <a:rect r="r" b="b" t="t" l="l"/>
              <a:pathLst>
                <a:path h="50800" w="6893941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58705" y="4521403"/>
            <a:ext cx="5170437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Identifies relevant content themes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7666" y="3738115"/>
            <a:ext cx="168354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37666" y="4310062"/>
            <a:ext cx="5170437" cy="38100"/>
            <a:chOff x="0" y="0"/>
            <a:chExt cx="6893916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93941" cy="50800"/>
            </a:xfrm>
            <a:custGeom>
              <a:avLst/>
              <a:gdLst/>
              <a:ahLst/>
              <a:cxnLst/>
              <a:rect r="r" b="b" t="t" l="l"/>
              <a:pathLst>
                <a:path h="50800" w="6893941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37666" y="4521403"/>
            <a:ext cx="5170437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Analyzes and segments target audience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744" y="5871124"/>
            <a:ext cx="197287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4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9744" y="6443072"/>
            <a:ext cx="7909922" cy="38100"/>
            <a:chOff x="0" y="0"/>
            <a:chExt cx="10546563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6588" cy="50800"/>
            </a:xfrm>
            <a:custGeom>
              <a:avLst/>
              <a:gdLst/>
              <a:ahLst/>
              <a:cxnLst/>
              <a:rect r="r" b="b" t="t" l="l"/>
              <a:pathLst>
                <a:path h="50800" w="10546588">
                  <a:moveTo>
                    <a:pt x="0" y="0"/>
                  </a:moveTo>
                  <a:lnTo>
                    <a:pt x="10546588" y="0"/>
                  </a:lnTo>
                  <a:lnTo>
                    <a:pt x="10546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79744" y="6654403"/>
            <a:ext cx="7909922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Recommends formats and distribution channels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98191" y="5871124"/>
            <a:ext cx="168354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5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98191" y="6443072"/>
            <a:ext cx="7909922" cy="38100"/>
            <a:chOff x="0" y="0"/>
            <a:chExt cx="10546563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46588" cy="50800"/>
            </a:xfrm>
            <a:custGeom>
              <a:avLst/>
              <a:gdLst/>
              <a:ahLst/>
              <a:cxnLst/>
              <a:rect r="r" b="b" t="t" l="l"/>
              <a:pathLst>
                <a:path h="50800" w="10546588">
                  <a:moveTo>
                    <a:pt x="0" y="0"/>
                  </a:moveTo>
                  <a:lnTo>
                    <a:pt x="10546588" y="0"/>
                  </a:lnTo>
                  <a:lnTo>
                    <a:pt x="10546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98191" y="6654403"/>
            <a:ext cx="7522959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Organizes structured planning calendars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2578741"/>
            <a:ext cx="7523712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Multi-Agent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545" y="3771157"/>
            <a:ext cx="8132264" cy="3908374"/>
            <a:chOff x="0" y="0"/>
            <a:chExt cx="10843019" cy="5211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43006" cy="5211191"/>
            </a:xfrm>
            <a:custGeom>
              <a:avLst/>
              <a:gdLst/>
              <a:ahLst/>
              <a:cxnLst/>
              <a:rect r="r" b="b" t="t" l="l"/>
              <a:pathLst>
                <a:path h="5211191" w="1084300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781284" y="0"/>
                  </a:lnTo>
                  <a:cubicBezTo>
                    <a:pt x="10815320" y="0"/>
                    <a:pt x="10843006" y="27686"/>
                    <a:pt x="10843006" y="61722"/>
                  </a:cubicBezTo>
                  <a:lnTo>
                    <a:pt x="10843006" y="5149469"/>
                  </a:lnTo>
                  <a:cubicBezTo>
                    <a:pt x="10843006" y="5183505"/>
                    <a:pt x="10815320" y="5211191"/>
                    <a:pt x="10781284" y="5211191"/>
                  </a:cubicBezTo>
                  <a:lnTo>
                    <a:pt x="61722" y="5211191"/>
                  </a:lnTo>
                  <a:cubicBezTo>
                    <a:pt x="27686" y="5211191"/>
                    <a:pt x="0" y="5183505"/>
                    <a:pt x="0" y="5149469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6070" y="4060622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Agents in Planvix: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6070" y="4750298"/>
            <a:ext cx="7515225" cy="28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Thinker - Customer insights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Trend Hunter - Content gaps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SEO Expert - Keyword discovery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Planner - Strategy &amp; calendar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Fortune Teller - Performance prediction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9915" y="4060622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9915" y="4750298"/>
            <a:ext cx="7687866" cy="225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Task distribution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reasoning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Improved consistency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Strategic coherence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2049961"/>
            <a:ext cx="5609777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3320501"/>
            <a:ext cx="16128502" cy="48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Multi-agent systems distribute tasks among specialized agents, enabling collaborative reasoning and improved scalability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LLMs have limitations: static training data, outdated responses, hallucinations, and inconsistency in multi-step reasoning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Retrieval-Augmented Generation (RAG) solves LLM limitations by integrating external knowledge retrieval with text generation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RAG improves factual accuracy, contextual relevance, and reduces hallucination risks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Multi-agent + RAG integration enables intelligent, adaptive planning with dynamic personalization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Existing tools lack unified framework combining multi-agent collaboration, RAG, and personalization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Planvix fills this gap by integrating multi-agent orchestration with retrieval-augmented intelligence for strategic content planning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2539451"/>
            <a:ext cx="6492773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4030866"/>
            <a:ext cx="4207221" cy="5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9744" y="4670527"/>
            <a:ext cx="454735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Minimum Requirements: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744" y="5360194"/>
            <a:ext cx="7687866" cy="225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Processor: Dual-core CPU (2.0 GHz or higher)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RAM: 4 GB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Storage: 2 GB free disk space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Internet: Stable broadband connection (5 Mbps+)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9915" y="4030866"/>
            <a:ext cx="4207221" cy="5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9915" y="4670527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Operating System: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9915" y="5360194"/>
            <a:ext cx="7687866" cy="168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Windows 10/11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macOS 10.15 (Catalina) or later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Linux (Ubuntu 20.04+, Debian, Fedora, etc.)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884034"/>
            <a:ext cx="7473706" cy="7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Requirements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195388" y="2240309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82403" y="2211734"/>
            <a:ext cx="6708724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Accept user goals &amp; experience level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195388" y="3792436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82403" y="3763861"/>
            <a:ext cx="746299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Coordinate multiple autonomous agents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195388" y="5344563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82403" y="5315988"/>
            <a:ext cx="5335934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Generate structured strategy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5388" y="6896691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82403" y="6868116"/>
            <a:ext cx="583882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 contextual consistency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95388" y="8448827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t="0" r="-816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82403" y="8420252"/>
            <a:ext cx="8546459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 retrieval-based knowledge grounding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08774" y="704107"/>
            <a:ext cx="302109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Gantt Chart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08774" y="1650054"/>
            <a:ext cx="11192770" cy="7461799"/>
            <a:chOff x="0" y="0"/>
            <a:chExt cx="14923694" cy="994906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923643" cy="9949053"/>
            </a:xfrm>
            <a:custGeom>
              <a:avLst/>
              <a:gdLst/>
              <a:ahLst/>
              <a:cxnLst/>
              <a:rect r="r" b="b" t="t" l="l"/>
              <a:pathLst>
                <a:path h="9949053" w="14923643">
                  <a:moveTo>
                    <a:pt x="0" y="0"/>
                  </a:moveTo>
                  <a:lnTo>
                    <a:pt x="14923643" y="0"/>
                  </a:lnTo>
                  <a:lnTo>
                    <a:pt x="14923643" y="9949053"/>
                  </a:lnTo>
                  <a:lnTo>
                    <a:pt x="0" y="9949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21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DAHBOHuB__0</dc:identifier>
  <dcterms:modified xsi:type="dcterms:W3CDTF">2011-08-01T06:04:30Z</dcterms:modified>
  <cp:revision>1</cp:revision>
  <dc:title>Copy-of-Untitled (2).pptx</dc:title>
</cp:coreProperties>
</file>